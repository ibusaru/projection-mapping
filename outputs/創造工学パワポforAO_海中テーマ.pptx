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ba18a9c6a24006" /><Relationship Type="http://schemas.openxmlformats.org/officeDocument/2006/relationships/extended-properties" Target="/docProps/app.xml" Id="R21aa92527be24190" /><Relationship Type="http://schemas.openxmlformats.org/officeDocument/2006/relationships/officeDocument" Target="/ppt/presentation.xml" Id="Rc7f53563cda145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9788187e074b17"/>
  </p:sldMasterIdLst>
  <p:notesMasterIdLst>
    <p:notesMasterId xmlns:r="http://schemas.openxmlformats.org/officeDocument/2006/relationships" r:id="R7f8bcb3c6feb4cc9"/>
  </p:notesMasterIdLst>
  <p:sldIdLst>
    <p:sldId xmlns:r="http://schemas.openxmlformats.org/officeDocument/2006/relationships" id="256" r:id="R211c3e992ecd489e"/>
    <p:sldId xmlns:r="http://schemas.openxmlformats.org/officeDocument/2006/relationships" id="257" r:id="R42730272c1c34328"/>
    <p:sldId xmlns:r="http://schemas.openxmlformats.org/officeDocument/2006/relationships" id="258" r:id="Ra39a7cb08a914daf"/>
  </p:sldIdLst>
  <p:sldSz cx="15113032" cy="213741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6d4ab3f9a4430c" /><Relationship Type="http://schemas.openxmlformats.org/officeDocument/2006/relationships/slideMaster" Target="/ppt/slideMasters/slideMaster1.xml" Id="R1d9788187e074b17" /><Relationship Type="http://schemas.openxmlformats.org/officeDocument/2006/relationships/notesMaster" Target="/ppt/notesMasters/notesMaster1.xml" Id="R7f8bcb3c6feb4cc9" /><Relationship Type="http://schemas.openxmlformats.org/officeDocument/2006/relationships/presProps" Target="/ppt/presProps.xml" Id="R044abda1f8a84048" /><Relationship Type="http://schemas.openxmlformats.org/officeDocument/2006/relationships/tableStyles" Target="/ppt/tableStyles.xml" Id="R461999ebb8984072" /><Relationship Type="http://schemas.openxmlformats.org/officeDocument/2006/relationships/slide" Target="/ppt/slides/slide1.xml" Id="R211c3e992ecd489e" /><Relationship Type="http://schemas.openxmlformats.org/officeDocument/2006/relationships/slide" Target="/ppt/slides/slide2.xml" Id="R42730272c1c34328" /><Relationship Type="http://schemas.openxmlformats.org/officeDocument/2006/relationships/slide" Target="/ppt/slides/slide3.xml" Id="Ra39a7cb08a914d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1e36328f1a40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835f2982de40dc" /><Relationship Type="http://schemas.openxmlformats.org/officeDocument/2006/relationships/notesMaster" Target="/ppt/notesMasters/notesMaster1.xml" Id="R6ee5067adf834b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d0455bb2a54197" /><Relationship Type="http://schemas.openxmlformats.org/officeDocument/2006/relationships/notesMaster" Target="/ppt/notesMasters/notesMaster1.xml" Id="Rcf4dd439447947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78f17aac4044d2" /><Relationship Type="http://schemas.openxmlformats.org/officeDocument/2006/relationships/notesMaster" Target="/ppt/notesMasters/notesMaster1.xml" Id="R22ea800bdb244c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98f50ede184b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66c28faffb4406" /><Relationship Type="http://schemas.openxmlformats.org/officeDocument/2006/relationships/slideLayout" Target="/ppt/slideLayouts/slideLayout1.xml" Id="R6596868a89bc45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96868a89bc45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4d09963094b39" /><Relationship Type="http://schemas.openxmlformats.org/officeDocument/2006/relationships/image" Target="/ppt/media/image.png" Id="R9cad6381fb554953" /><Relationship Type="http://schemas.openxmlformats.org/officeDocument/2006/relationships/image" Target="/ppt/media/image2.png" Id="R43c383670ab54188" /><Relationship Type="http://schemas.openxmlformats.org/officeDocument/2006/relationships/image" Target="/ppt/media/image.jpeg" Id="R5140c5e40e9340db" /><Relationship Type="http://schemas.openxmlformats.org/officeDocument/2006/relationships/image" Target="/ppt/media/image3.png" Id="R3eb7fb1e51eb4f6a" /><Relationship Type="http://schemas.openxmlformats.org/officeDocument/2006/relationships/image" Target="/ppt/media/image4.png" Id="R0afb7f7c45a94ee7" /><Relationship Type="http://schemas.openxmlformats.org/officeDocument/2006/relationships/image" Target="/ppt/media/image5.png" Id="Rd5f33195266749a4" /><Relationship Type="http://schemas.openxmlformats.org/officeDocument/2006/relationships/image" Target="/ppt/media/image6.png" Id="Rb5c9e4e38edb4cf8" /><Relationship Type="http://schemas.openxmlformats.org/officeDocument/2006/relationships/image" Target="/ppt/media/image7.png" Id="R63bb881bab1f4f8a" /><Relationship Type="http://schemas.openxmlformats.org/officeDocument/2006/relationships/image" Target="/ppt/media/image8.png" Id="R89ddcef8dd1d49ed" /><Relationship Type="http://schemas.openxmlformats.org/officeDocument/2006/relationships/image" Target="/ppt/media/image9.png" Id="Rd4c3033677374101" /><Relationship Type="http://schemas.openxmlformats.org/officeDocument/2006/relationships/image" Target="/ppt/media/image2.jpeg" Id="R0975a3a5f33f42c1" /><Relationship Type="http://schemas.openxmlformats.org/officeDocument/2006/relationships/image" Target="/ppt/media/image10.png" Id="R3b564a22b0a441df" /><Relationship Type="http://schemas.openxmlformats.org/officeDocument/2006/relationships/image" Target="/ppt/media/image11.png" Id="R8700c0482b664441" /><Relationship Type="http://schemas.openxmlformats.org/officeDocument/2006/relationships/image" Target="/ppt/media/image12.png" Id="R857881dc4de04f16" /><Relationship Type="http://schemas.openxmlformats.org/officeDocument/2006/relationships/image" Target="/ppt/media/image13.png" Id="R465335c1e6ba4f3e" /><Relationship Type="http://schemas.openxmlformats.org/officeDocument/2006/relationships/image" Target="/ppt/media/image14.png" Id="R2b124e3fe28649bd" /><Relationship Type="http://schemas.openxmlformats.org/officeDocument/2006/relationships/notesSlide" Target="/ppt/notesSlides/notesSlide1.xml" Id="R6ae8d8847e0748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e2a88dd09486c" /><Relationship Type="http://schemas.openxmlformats.org/officeDocument/2006/relationships/image" Target="/ppt/media/image15.png" Id="Rcf4129ad32bb4fdc" /><Relationship Type="http://schemas.openxmlformats.org/officeDocument/2006/relationships/image" Target="/ppt/media/image16.png" Id="R3c55037ab49f4774" /><Relationship Type="http://schemas.openxmlformats.org/officeDocument/2006/relationships/image" Target="/ppt/media/image17.png" Id="R7be9c6e7d4b84d38" /><Relationship Type="http://schemas.openxmlformats.org/officeDocument/2006/relationships/image" Target="/ppt/media/image18.png" Id="Rfee727cd6b464213" /><Relationship Type="http://schemas.openxmlformats.org/officeDocument/2006/relationships/image" Target="/ppt/media/image19.png" Id="Rf5954c4837f4429e" /><Relationship Type="http://schemas.openxmlformats.org/officeDocument/2006/relationships/image" Target="/ppt/media/image20.png" Id="R43c39ba564d644d4" /><Relationship Type="http://schemas.openxmlformats.org/officeDocument/2006/relationships/image" Target="/ppt/media/image21.png" Id="Rc51a968d7c8a4cc5" /><Relationship Type="http://schemas.openxmlformats.org/officeDocument/2006/relationships/image" Target="/ppt/media/image22.png" Id="Rd7854f8ea3da46dc" /><Relationship Type="http://schemas.openxmlformats.org/officeDocument/2006/relationships/image" Target="/ppt/media/image23.png" Id="Raed2e8b786864260" /><Relationship Type="http://schemas.openxmlformats.org/officeDocument/2006/relationships/image" Target="/ppt/media/image24.png" Id="R369d8ddf66524313" /><Relationship Type="http://schemas.openxmlformats.org/officeDocument/2006/relationships/notesSlide" Target="/ppt/notesSlides/notesSlide2.xml" Id="R6fc0490e62bd41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1d90662e742cb" /><Relationship Type="http://schemas.openxmlformats.org/officeDocument/2006/relationships/image" Target="/ppt/media/image25.png" Id="Rdc2d2907436c47aa" /><Relationship Type="http://schemas.openxmlformats.org/officeDocument/2006/relationships/image" Target="/ppt/media/image26.png" Id="R2398d1da54d54fda" /><Relationship Type="http://schemas.openxmlformats.org/officeDocument/2006/relationships/image" Target="/ppt/media/image27.png" Id="R228a4febf0914687" /><Relationship Type="http://schemas.openxmlformats.org/officeDocument/2006/relationships/image" Target="/ppt/media/image28.png" Id="R0b65160ea7044309" /><Relationship Type="http://schemas.openxmlformats.org/officeDocument/2006/relationships/image" Target="/ppt/media/image29.png" Id="R78ce29956b3a4866" /><Relationship Type="http://schemas.openxmlformats.org/officeDocument/2006/relationships/notesSlide" Target="/ppt/notesSlides/notesSlide3.xml" Id="R1cfc2efc97794244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BDF3FF"/>
            </a:gs>
            <a:gs pos="40000">
              <a:srgbClr val="4FC8DA"/>
            </a:gs>
            <a:gs pos="100000">
              <a:srgbClr val="08799B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d6381fb554953"/>
          <a:srcRect xmlns:a="http://schemas.openxmlformats.org/drawingml/2006/main" l="6294" t="0" r="62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113032" cy="8953500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383670ab54188"/>
          <a:srcRect xmlns:a="http://schemas.openxmlformats.org/drawingml/2006/main" l="0" t="12235" r="0" b="122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4516100"/>
            <a:ext cx="15113032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70DDA-607F-4EE7-AAA0-BEE02317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113032" cy="2137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0c5e40e9340db"/>
          <a:srcRect xmlns:a="http://schemas.openxmlformats.org/drawingml/2006/main" l="0" t="20868" r="0" b="208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113032" cy="4953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2A509-74BC-403C-84D2-20361504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113032" cy="5905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>
                  <a:alpha val="10000"/>
                </a:srgbClr>
              </a:gs>
              <a:gs pos="78000">
                <a:srgbClr val="00A6C8">
                  <a:alpha val="48000"/>
                </a:srgbClr>
              </a:gs>
              <a:gs pos="100000">
                <a:srgbClr val="007EA0">
                  <a:alpha val="0"/>
                </a:srgbClr>
              </a:gs>
            </a:gsLst>
            <a:lin ang="108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D8A3B-2387-442E-925F-465B44D2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76350"/>
            <a:ext cx="933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64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デジタル水族館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4924A-3695-4293-853B-F562A328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14600"/>
            <a:ext cx="1085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来場者がつくった魚が、海中空間に泳ぎ出す参加型プロジェクション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765FA-705B-433A-8A38-64B23A13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1390650"/>
            <a:ext cx="1238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EF49E-4014-44FC-BED3-4FB5B311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457325"/>
            <a:ext cx="895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7E778-7813-4490-8154-9FA4C37D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333750"/>
            <a:ext cx="952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俵伊吹 / 長谷川煌輔 / 中嶋華鈴 / 三木快和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20857-1E65-43D5-A4EB-473FA364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34683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>
              <a:alpha val="88000"/>
            </a:srgbClr>
          </a:solidFill>
          <a:ln xmlns:a="http://schemas.openxmlformats.org/drawingml/2006/main" w="19050">
            <a:solidFill>
              <a:srgbClr val="7DDCE8">
                <a:alpha val="8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2E149-2990-4EFC-8697-3D25DE87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229350"/>
            <a:ext cx="361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9BB5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0E9BB5"/>
                </a:solidFill>
                <a:latin typeface="Yu Gothic"/>
                <a:ea typeface="Yu Gothic"/>
                <a:cs typeface="Yu Gothic"/>
              </a:rPr>
              <a:t>目的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0A92FD-5A05-4C00-B400-E46045EE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6865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1C35B7-5277-4A37-841D-D0064664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934200"/>
            <a:ext cx="12573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2700" b="0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オープンキャンパスで来場した中学生に、舞鶴高専の魅力や、ものづくり・プログラミングの楽しさを体験してもらう。入学後の学生生活や将来のイメージまで持ってもらえる展示を目指した。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752F76-3733-4962-B3E2-D77607C7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096500"/>
            <a:ext cx="6572250" cy="514350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>
              <a:alpha val="88000"/>
            </a:srgbClr>
          </a:solidFill>
          <a:ln xmlns:a="http://schemas.openxmlformats.org/drawingml/2006/main" w="19050">
            <a:solidFill>
              <a:srgbClr val="7DDCE8">
                <a:alpha val="8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B0779F-9C00-42CC-ABC7-0B1FD705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0534650"/>
            <a:ext cx="361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9BB5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0E9BB5"/>
                </a:solidFill>
                <a:latin typeface="Yu Gothic"/>
                <a:ea typeface="Yu Gothic"/>
                <a:cs typeface="Yu Gothic"/>
              </a:rPr>
              <a:t>プロジェクトの核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77ACA8-309D-46C2-BBC4-4D6F7A61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09918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80C2A8-20AF-41E6-A71C-449A2CD8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1334750"/>
            <a:ext cx="5715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・海中をテーマにした来場者参加型のプロジェクションマッピング</a:t>
            </a:r>
          </a:p>
          <a:p xmlns:a="http://schemas.openxmlformats.org/drawingml/2006/main">
            <a:pPr algn="l">
              <a:defRPr sz="2325" b="0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・Webアプリで魚を選び、色や柄を自由にカスタマイズ</a:t>
            </a:r>
          </a:p>
          <a:p xmlns:a="http://schemas.openxmlformats.org/drawingml/2006/main">
            <a:pPr algn="l">
              <a:defRPr sz="2325" b="0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・制作した作品を来場者自身に体験してもらう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7fb1e51eb4f6a"/>
          <a:stretch xmlns:a="http://schemas.openxmlformats.org/drawingml/2006/main"/>
        </p:blipFill>
        <p:spPr>
          <a:xfrm xmlns:a="http://schemas.openxmlformats.org/drawingml/2006/main">
            <a:off x="4515940" y="13144500"/>
            <a:ext cx="1959971" cy="1428750"/>
          </a:xfrm>
          <a:prstGeom xmlns:a="http://schemas.openxmlformats.org/drawingml/2006/main" prst="rect">
            <a:avLst/>
          </a:prstGeom>
        </p:spPr>
      </p:pic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b7f7c45a94ee7"/>
          <a:stretch xmlns:a="http://schemas.openxmlformats.org/drawingml/2006/main"/>
        </p:blipFill>
        <p:spPr>
          <a:xfrm xmlns:a="http://schemas.openxmlformats.org/drawingml/2006/main">
            <a:off x="1778843" y="13144500"/>
            <a:ext cx="2347813" cy="14287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2201BF-9982-42C4-B2F6-16ECA735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0096500"/>
            <a:ext cx="6572250" cy="514350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>
              <a:alpha val="88000"/>
            </a:srgbClr>
          </a:solidFill>
          <a:ln xmlns:a="http://schemas.openxmlformats.org/drawingml/2006/main" w="19050">
            <a:solidFill>
              <a:srgbClr val="7DDCE8">
                <a:alpha val="8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10B506-A8F6-4507-BCAE-CDB91964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534650"/>
            <a:ext cx="361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9BB5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0E9BB5"/>
                </a:solidFill>
                <a:latin typeface="Yu Gothic"/>
                <a:ea typeface="Yu Gothic"/>
                <a:cs typeface="Yu Gothic"/>
              </a:rPr>
              <a:t>開発環境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772B6F-52D2-4743-A19E-11A67B59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9918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7DC08A-5EE4-4FC1-88FE-8EC2F235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430000"/>
            <a:ext cx="14668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E8F0"/>
            </a:solidFill>
            <a:prstDash val="solid"/>
          </a:ln>
        </p:spPr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33195266749a4"/>
          <a:stretch xmlns:a="http://schemas.openxmlformats.org/drawingml/2006/main"/>
        </p:blipFill>
        <p:spPr>
          <a:xfrm xmlns:a="http://schemas.openxmlformats.org/drawingml/2006/main">
            <a:off x="8469048" y="11591925"/>
            <a:ext cx="949854" cy="11430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19BCA4-0D00-4F14-8040-023CE3BD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1430000"/>
            <a:ext cx="14668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E8F0"/>
            </a:solidFill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c9e4e38edb4cf8"/>
          <a:stretch xmlns:a="http://schemas.openxmlformats.org/drawingml/2006/main"/>
        </p:blipFill>
        <p:spPr>
          <a:xfrm xmlns:a="http://schemas.openxmlformats.org/drawingml/2006/main">
            <a:off x="10429875" y="11671167"/>
            <a:ext cx="1143000" cy="984517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A435A9-276C-4F28-9F38-3FD6D88A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11430000"/>
            <a:ext cx="14668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E8F0"/>
            </a:solidFill>
            <a:prstDash val="solid"/>
          </a:ln>
        </p:spPr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b881bab1f4f8a"/>
          <a:stretch xmlns:a="http://schemas.openxmlformats.org/drawingml/2006/main"/>
        </p:blipFill>
        <p:spPr>
          <a:xfrm xmlns:a="http://schemas.openxmlformats.org/drawingml/2006/main">
            <a:off x="12613110" y="11591925"/>
            <a:ext cx="891330" cy="11430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72806A-B052-4D04-B6FC-A02D50A9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3487400"/>
            <a:ext cx="14668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E8F0"/>
            </a:solidFill>
            <a:prstDash val="solid"/>
          </a:ln>
        </p:spPr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dcef8dd1d49ed"/>
          <a:stretch xmlns:a="http://schemas.openxmlformats.org/drawingml/2006/main"/>
        </p:blipFill>
        <p:spPr>
          <a:xfrm xmlns:a="http://schemas.openxmlformats.org/drawingml/2006/main">
            <a:off x="8372475" y="13673021"/>
            <a:ext cx="1143000" cy="1095607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FFD4D3-41A9-434A-86A3-CD7E9A00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3487400"/>
            <a:ext cx="14668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E8F0"/>
            </a:solidFill>
            <a:prstDash val="solid"/>
          </a:ln>
        </p:spPr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3033677374101"/>
          <a:stretch xmlns:a="http://schemas.openxmlformats.org/drawingml/2006/main"/>
        </p:blipFill>
        <p:spPr>
          <a:xfrm xmlns:a="http://schemas.openxmlformats.org/drawingml/2006/main">
            <a:off x="10429875" y="13863638"/>
            <a:ext cx="1143000" cy="714375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354B53-7623-4760-8B90-D0DD95DB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13487400"/>
            <a:ext cx="14668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E8F0"/>
            </a:solidFill>
            <a:prstDash val="solid"/>
          </a:ln>
        </p:spPr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75a3a5f33f42c1"/>
          <a:stretch xmlns:a="http://schemas.openxmlformats.org/drawingml/2006/main"/>
        </p:blipFill>
        <p:spPr>
          <a:xfrm xmlns:a="http://schemas.openxmlformats.org/drawingml/2006/main">
            <a:off x="12487275" y="13649325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B7A11F-F9AB-4F8D-971E-FD396FEB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0"/>
            <a:ext cx="134683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9FBFF">
              <a:alpha val="92000"/>
            </a:srgbClr>
          </a:solidFill>
          <a:ln xmlns:a="http://schemas.openxmlformats.org/drawingml/2006/main" w="19050">
            <a:solidFill>
              <a:srgbClr val="7DDCE8">
                <a:alpha val="80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6555C6-6552-4CD6-A706-E8A3BA84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249650"/>
            <a:ext cx="361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9BB5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0E9BB5"/>
                </a:solidFill>
                <a:latin typeface="Yu Gothic"/>
                <a:ea typeface="Yu Gothic"/>
                <a:cs typeface="Yu Gothic"/>
              </a:rPr>
              <a:t>システム構成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741B40-45EB-48A5-8235-570D54A9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068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73B21A-E48D-468F-9775-80CC4B97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221200"/>
            <a:ext cx="20002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>
              <a:alpha val="92000"/>
            </a:srgbClr>
          </a:solidFill>
          <a:ln xmlns:a="http://schemas.openxmlformats.org/drawingml/2006/main" w="19050">
            <a:solidFill>
              <a:srgbClr val="6BD7E3"/>
            </a:solidFill>
            <a:prstDash val="solid"/>
          </a:ln>
        </p:spPr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564a22b0a441df"/>
          <a:stretch xmlns:a="http://schemas.openxmlformats.org/drawingml/2006/main"/>
        </p:blipFill>
        <p:spPr>
          <a:xfrm xmlns:a="http://schemas.openxmlformats.org/drawingml/2006/main">
            <a:off x="1419886" y="17373600"/>
            <a:ext cx="474927" cy="5715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009D93-3407-42EC-8BE7-1D18330B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7335500"/>
            <a:ext cx="1066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Webサイト</a:t>
            </a:r>
          </a:p>
          <a:p xmlns:a="http://schemas.openxmlformats.org/drawingml/2006/main">
            <a:pPr algn="l">
              <a:defRPr sz="1650" b="1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React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13EC6C-B542-4E42-892D-5BBBB439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506950"/>
            <a:ext cx="514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E9BB5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0E9BB5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44FE43-DC2C-404D-85B6-8EEB29B2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221200"/>
            <a:ext cx="20002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>
              <a:alpha val="92000"/>
            </a:srgbClr>
          </a:solidFill>
          <a:ln xmlns:a="http://schemas.openxmlformats.org/drawingml/2006/main" w="19050">
            <a:solidFill>
              <a:srgbClr val="6BD7E3"/>
            </a:solidFill>
            <a:prstDash val="solid"/>
          </a:ln>
        </p:spPr>
      </p:sp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00c0482b664441"/>
          <a:stretch xmlns:a="http://schemas.openxmlformats.org/drawingml/2006/main"/>
        </p:blipFill>
        <p:spPr>
          <a:xfrm xmlns:a="http://schemas.openxmlformats.org/drawingml/2006/main">
            <a:off x="3924300" y="17413221"/>
            <a:ext cx="571500" cy="492258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4A3E45-9074-4840-AE1D-61AC56DB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335500"/>
            <a:ext cx="1066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データ保存</a:t>
            </a:r>
          </a:p>
          <a:p xmlns:a="http://schemas.openxmlformats.org/drawingml/2006/main">
            <a:pPr algn="l">
              <a:defRPr sz="1650" b="1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Supabase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02ADD2-6127-4FD9-90EF-715768BA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06950"/>
            <a:ext cx="514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E9BB5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0E9BB5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04F19D6-3D3F-4EA5-8395-C474F00D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221200"/>
            <a:ext cx="20002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>
              <a:alpha val="92000"/>
            </a:srgbClr>
          </a:solidFill>
          <a:ln xmlns:a="http://schemas.openxmlformats.org/drawingml/2006/main" w="19050">
            <a:solidFill>
              <a:srgbClr val="6BD7E3"/>
            </a:solidFill>
            <a:prstDash val="solid"/>
          </a:ln>
        </p:spPr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881dc4de04f16"/>
          <a:stretch xmlns:a="http://schemas.openxmlformats.org/drawingml/2006/main"/>
        </p:blipFill>
        <p:spPr>
          <a:xfrm xmlns:a="http://schemas.openxmlformats.org/drawingml/2006/main">
            <a:off x="6539917" y="17373600"/>
            <a:ext cx="445665" cy="57150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C7F6D23-E3CF-482D-894E-28931EB4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335500"/>
            <a:ext cx="1066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海中表示</a:t>
            </a:r>
          </a:p>
          <a:p xmlns:a="http://schemas.openxmlformats.org/drawingml/2006/main">
            <a:pPr algn="l">
              <a:defRPr sz="1650" b="1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Unity / Blender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CC36DDC-2882-4F5A-95E0-B049A598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506950"/>
            <a:ext cx="514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E9BB5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0E9BB5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DF24D57-1919-44C5-8267-06CB90CF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221200"/>
            <a:ext cx="20002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>
              <a:alpha val="92000"/>
            </a:srgbClr>
          </a:solidFill>
          <a:ln xmlns:a="http://schemas.openxmlformats.org/drawingml/2006/main" w="19050">
            <a:solidFill>
              <a:srgbClr val="6BD7E3"/>
            </a:solidFill>
            <a:prstDash val="solid"/>
          </a:ln>
        </p:spPr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335c1e6ba4f3e"/>
          <a:stretch xmlns:a="http://schemas.openxmlformats.org/drawingml/2006/main"/>
        </p:blipFill>
        <p:spPr>
          <a:xfrm xmlns:a="http://schemas.openxmlformats.org/drawingml/2006/main">
            <a:off x="9029700" y="17432841"/>
            <a:ext cx="571500" cy="453018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5B27104-6264-4921-8081-DEEEB458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335500"/>
            <a:ext cx="1066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映像調整</a:t>
            </a:r>
          </a:p>
          <a:p xmlns:a="http://schemas.openxmlformats.org/drawingml/2006/main">
            <a:pPr algn="l">
              <a:defRPr sz="1650" b="1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OBS / Resolume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2A672DB-9557-45C6-A653-8EBC7D34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7506950"/>
            <a:ext cx="514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E9BB5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0E9BB5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B470879-9AD1-4315-B0D0-217662AD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7221200"/>
            <a:ext cx="20002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>
              <a:alpha val="92000"/>
            </a:srgbClr>
          </a:solidFill>
          <a:ln xmlns:a="http://schemas.openxmlformats.org/drawingml/2006/main" w="19050">
            <a:solidFill>
              <a:srgbClr val="6BD7E3"/>
            </a:solidFill>
            <a:prstDash val="solid"/>
          </a:ln>
        </p:spPr>
      </p:sp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24e3fe28649bd"/>
          <a:stretch xmlns:a="http://schemas.openxmlformats.org/drawingml/2006/main"/>
        </p:blipFill>
        <p:spPr>
          <a:xfrm xmlns:a="http://schemas.openxmlformats.org/drawingml/2006/main">
            <a:off x="11582400" y="17432841"/>
            <a:ext cx="571500" cy="453018"/>
          </a:xfrm>
          <a:prstGeom xmlns:a="http://schemas.openxmlformats.org/drawingml/2006/main" prst="rect">
            <a:avLst/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9243705-DC13-44A3-AE56-6D167AA4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17335500"/>
            <a:ext cx="1066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教室へ投影</a:t>
            </a:r>
          </a:p>
          <a:p xmlns:a="http://schemas.openxmlformats.org/drawingml/2006/main">
            <a:pPr algn="l">
              <a:defRPr sz="1650" b="1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プロジェクター</a:t>
            </a:r>
          </a:p>
        </p:txBody>
      </p:sp>
    </p:spTree>
    <p:extLst>
      <p:ext uri="{BB962C8B-B14F-4D97-AF65-F5344CB8AC3E}">
        <p14:creationId xmlns:p14="http://schemas.microsoft.com/office/powerpoint/2010/main" val="869025049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7DDFEB"/>
            </a:gs>
            <a:gs pos="48000">
              <a:srgbClr val="16A8C1"/>
            </a:gs>
            <a:gs pos="100000">
              <a:srgbClr val="035381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129ad32bb4fdc"/>
          <a:srcRect xmlns:a="http://schemas.openxmlformats.org/drawingml/2006/main" l="6294" t="0" r="62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113032" cy="8953500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5037ab49f4774"/>
          <a:srcRect xmlns:a="http://schemas.openxmlformats.org/drawingml/2006/main" l="0" t="12235" r="0" b="122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4516100"/>
            <a:ext cx="15113032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C0F8D-817A-4D92-B735-FCC79098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113032" cy="2137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8D231-E97E-443A-85A7-B2B04582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7630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9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体験の流れ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F6592-268F-444B-98ED-D21B36EB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QRから参加し、自分の魚をつくって、投影された水族館へ放流する。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0C010-B69A-4D23-9BE2-2198E465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3544550" cy="6191250"/>
          </a:xfrm>
          <a:prstGeom xmlns:a="http://schemas.openxmlformats.org/drawingml/2006/main" prst="roundRect">
            <a:avLst>
              <a:gd name="adj" fmla="val 1231"/>
            </a:avLst>
          </a:prstGeom>
          <a:solidFill xmlns:a="http://schemas.openxmlformats.org/drawingml/2006/main">
            <a:srgbClr val="FFFFFF">
              <a:alpha val="88000"/>
            </a:srgbClr>
          </a:solidFill>
          <a:ln xmlns:a="http://schemas.openxmlformats.org/drawingml/2006/main" w="19050">
            <a:solidFill>
              <a:srgbClr val="7DDCE8">
                <a:alpha val="8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52417-F124-4F6A-A458-A65F04AA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43300"/>
            <a:ext cx="40576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>
              <a:alpha val="94000"/>
            </a:srgbClr>
          </a:solidFill>
          <a:ln xmlns:a="http://schemas.openxmlformats.org/drawingml/2006/main" w="19050">
            <a:solidFill>
              <a:srgbClr val="7DDC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B0742-B19F-46DF-839A-6396D287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52850"/>
            <a:ext cx="76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7A7A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7A7A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9c6e7d4b84d38"/>
          <a:stretch xmlns:a="http://schemas.openxmlformats.org/drawingml/2006/main"/>
        </p:blipFill>
        <p:spPr>
          <a:xfrm xmlns:a="http://schemas.openxmlformats.org/drawingml/2006/main">
            <a:off x="1428750" y="4286250"/>
            <a:ext cx="1009650" cy="10096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CDFDE-D2EB-43A5-BEED-545A359B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33850"/>
            <a:ext cx="2247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QRコードを</a:t>
            </a:r>
          </a:p>
          <a:p xmlns:a="http://schemas.openxmlformats.org/drawingml/2006/main">
            <a:pPr algn="l">
              <a:defRPr sz="2400" b="1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読み取る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7916E6-B07A-4F5A-8E83-A6801AAF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43300"/>
            <a:ext cx="40576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6FAFF">
              <a:alpha val="92000"/>
            </a:srgbClr>
          </a:solidFill>
          <a:ln xmlns:a="http://schemas.openxmlformats.org/drawingml/2006/main" w="19050">
            <a:solidFill>
              <a:srgbClr val="7DDC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CFEDA-4B29-410D-B851-8C9A2B34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52850"/>
            <a:ext cx="76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7A7A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7A7A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727cd6b464213"/>
          <a:stretch xmlns:a="http://schemas.openxmlformats.org/drawingml/2006/main"/>
        </p:blipFill>
        <p:spPr>
          <a:xfrm xmlns:a="http://schemas.openxmlformats.org/drawingml/2006/main">
            <a:off x="6012035" y="4286250"/>
            <a:ext cx="567980" cy="10096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6DA706-B0CB-4CD4-9149-73359C90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33850"/>
            <a:ext cx="2247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Webサイトに</a:t>
            </a:r>
          </a:p>
          <a:p xmlns:a="http://schemas.openxmlformats.org/drawingml/2006/main">
            <a:pPr algn="l">
              <a:defRPr sz="2400" b="1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アクセス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DEEDB8-DA4D-4C76-BE3A-F8D6EF86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543300"/>
            <a:ext cx="40576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>
              <a:alpha val="94000"/>
            </a:srgbClr>
          </a:solidFill>
          <a:ln xmlns:a="http://schemas.openxmlformats.org/drawingml/2006/main" w="19050">
            <a:solidFill>
              <a:srgbClr val="7DDC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24E5E9-1D6C-44C9-BB1E-3E69C33C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752850"/>
            <a:ext cx="76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7A7A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7A7A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54c4837f4429e"/>
          <a:stretch xmlns:a="http://schemas.openxmlformats.org/drawingml/2006/main"/>
        </p:blipFill>
        <p:spPr>
          <a:xfrm xmlns:a="http://schemas.openxmlformats.org/drawingml/2006/main">
            <a:off x="10374485" y="4286250"/>
            <a:ext cx="567980" cy="10096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21C7EA-FDAD-4D1A-9A07-FDFA2C0D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133850"/>
            <a:ext cx="2247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ニックネームを</a:t>
            </a:r>
          </a:p>
          <a:p xmlns:a="http://schemas.openxmlformats.org/drawingml/2006/main">
            <a:pPr algn="l">
              <a:defRPr sz="2400" b="1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入力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50C059-5B01-4AD9-81B6-BA87F3A8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115050"/>
            <a:ext cx="40576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6FAFF">
              <a:alpha val="92000"/>
            </a:srgbClr>
          </a:solidFill>
          <a:ln xmlns:a="http://schemas.openxmlformats.org/drawingml/2006/main" w="19050">
            <a:solidFill>
              <a:srgbClr val="7DDC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82A9CF-C1A7-4C7B-9784-7312F720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324600"/>
            <a:ext cx="76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7A7A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7A7A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39ba564d644d4"/>
          <a:stretch xmlns:a="http://schemas.openxmlformats.org/drawingml/2006/main"/>
        </p:blipFill>
        <p:spPr>
          <a:xfrm xmlns:a="http://schemas.openxmlformats.org/drawingml/2006/main">
            <a:off x="1428750" y="6994825"/>
            <a:ext cx="1009650" cy="7360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59A0BC-8F48-440E-898E-F817582D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705600"/>
            <a:ext cx="2247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魚を選び</a:t>
            </a:r>
          </a:p>
          <a:p xmlns:a="http://schemas.openxmlformats.org/drawingml/2006/main">
            <a:pPr algn="l">
              <a:defRPr sz="2400" b="1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カスタマイズ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DEB570-3618-4571-AE54-95C486FE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115050"/>
            <a:ext cx="40576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>
              <a:alpha val="94000"/>
            </a:srgbClr>
          </a:solidFill>
          <a:ln xmlns:a="http://schemas.openxmlformats.org/drawingml/2006/main" w="19050">
            <a:solidFill>
              <a:srgbClr val="7DDC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A324A9-4E12-4B77-AB52-58CFA293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6324600"/>
            <a:ext cx="76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7A7A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7A7A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a968d7c8a4cc5"/>
          <a:stretch xmlns:a="http://schemas.openxmlformats.org/drawingml/2006/main"/>
        </p:blipFill>
        <p:spPr>
          <a:xfrm xmlns:a="http://schemas.openxmlformats.org/drawingml/2006/main">
            <a:off x="5791200" y="7055616"/>
            <a:ext cx="1009650" cy="614417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74B59A-E24F-4202-B98C-1E116DD1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705600"/>
            <a:ext cx="2247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放流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6BE5CF-2E63-4959-A8E4-14E16A2B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115050"/>
            <a:ext cx="40576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6FAFF">
              <a:alpha val="92000"/>
            </a:srgbClr>
          </a:solidFill>
          <a:ln xmlns:a="http://schemas.openxmlformats.org/drawingml/2006/main" w="19050">
            <a:solidFill>
              <a:srgbClr val="7DDC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AEC32C-93E9-4A5B-9D81-B93D212F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24600"/>
            <a:ext cx="76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7A7A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7A7A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854f8ea3da46dc"/>
          <a:stretch xmlns:a="http://schemas.openxmlformats.org/drawingml/2006/main"/>
        </p:blipFill>
        <p:spPr>
          <a:xfrm xmlns:a="http://schemas.openxmlformats.org/drawingml/2006/main">
            <a:off x="10153650" y="6962659"/>
            <a:ext cx="1009650" cy="800332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F7A7A0-C5EF-482B-BACB-34B3B439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705600"/>
            <a:ext cx="2247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投影空間に</a:t>
            </a:r>
          </a:p>
          <a:p xmlns:a="http://schemas.openxmlformats.org/drawingml/2006/main">
            <a:pPr algn="l">
              <a:defRPr sz="2400" b="1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反映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E0C296-3119-4896-B82B-70F1678A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886950"/>
            <a:ext cx="628650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5FDFF">
              <a:alpha val="90000"/>
            </a:srgbClr>
          </a:solidFill>
          <a:ln xmlns:a="http://schemas.openxmlformats.org/drawingml/2006/main" w="19050">
            <a:solidFill>
              <a:srgbClr val="7DDCE8">
                <a:alpha val="8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A6C419-AA8B-4B1B-8FC2-5D3125D1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325100"/>
            <a:ext cx="361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9BB5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0E9BB5"/>
                </a:solidFill>
                <a:latin typeface="Yu Gothic"/>
                <a:ea typeface="Yu Gothic"/>
                <a:cs typeface="Yu Gothic"/>
              </a:rPr>
              <a:t>制作物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246E8C-EB6E-4E6E-8AE7-38EFC2E5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7823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2BF1B1-4F65-4312-901B-096DFF19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1106150"/>
            <a:ext cx="533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・Blenderで作った魚・海底オブジェクト</a:t>
            </a:r>
          </a:p>
          <a:p xmlns:a="http://schemas.openxmlformats.org/drawingml/2006/main">
            <a:pPr algn="l">
              <a:defRPr sz="2250" b="0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・背景と投影用の映像演出</a:t>
            </a:r>
          </a:p>
          <a:p xmlns:a="http://schemas.openxmlformats.org/drawingml/2006/main">
            <a:pPr algn="l">
              <a:defRPr sz="2250" b="0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・Webで魚を編集する参加画面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2e8b786864260"/>
          <a:stretch xmlns:a="http://schemas.openxmlformats.org/drawingml/2006/main"/>
        </p:blipFill>
        <p:spPr>
          <a:xfrm xmlns:a="http://schemas.openxmlformats.org/drawingml/2006/main">
            <a:off x="1931979" y="12839700"/>
            <a:ext cx="1698641" cy="1238250"/>
          </a:xfrm>
          <a:prstGeom xmlns:a="http://schemas.openxmlformats.org/drawingml/2006/main" prst="rect">
            <a:avLst/>
          </a:prstGeom>
        </p:spPr>
      </p:pic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d8ddf66524313"/>
          <a:stretch xmlns:a="http://schemas.openxmlformats.org/drawingml/2006/main"/>
        </p:blipFill>
        <p:spPr>
          <a:xfrm xmlns:a="http://schemas.openxmlformats.org/drawingml/2006/main">
            <a:off x="4000500" y="12763665"/>
            <a:ext cx="2190750" cy="133317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D88C94-1C95-40F8-A4C3-F5FAFC4E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9886950"/>
            <a:ext cx="687705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5FDFF">
              <a:alpha val="90000"/>
            </a:srgbClr>
          </a:solidFill>
          <a:ln xmlns:a="http://schemas.openxmlformats.org/drawingml/2006/main" w="19050">
            <a:solidFill>
              <a:srgbClr val="7DDCE8">
                <a:alpha val="80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A49911-ECEB-40E6-ACB1-14ADB40F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0325100"/>
            <a:ext cx="361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9BB5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0E9BB5"/>
                </a:solidFill>
                <a:latin typeface="Yu Gothic"/>
                <a:ea typeface="Yu Gothic"/>
                <a:cs typeface="Yu Gothic"/>
              </a:rPr>
              <a:t>今後の展望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FA1AC1-6926-4B12-BD17-01F05B84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07823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8C7CB0-9BD4-4C8C-B25D-DB0E13A3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1106150"/>
            <a:ext cx="5905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・魚の種類を増やし、より多彩な水族館を表現する</a:t>
            </a:r>
          </a:p>
          <a:p xmlns:a="http://schemas.openxmlformats.org/drawingml/2006/main">
            <a:pPr algn="l">
              <a:defRPr sz="2175" b="0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・背景演出を追加し、臨場感のある空間にする</a:t>
            </a:r>
          </a:p>
          <a:p xmlns:a="http://schemas.openxmlformats.org/drawingml/2006/main">
            <a:pPr algn="l">
              <a:defRPr sz="2175" b="0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・餌やりなどの機能で、体験型コンテンツに発展させる</a:t>
            </a:r>
          </a:p>
          <a:p xmlns:a="http://schemas.openxmlformats.org/drawingml/2006/main">
            <a:pPr algn="l">
              <a:defRPr sz="2175" b="0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・同時参加しやすいシステムへ改良する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F42549-7785-44A7-8A34-BBCB7B12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125700"/>
            <a:ext cx="135445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AFBFF">
              <a:alpha val="94000"/>
            </a:srgbClr>
          </a:solidFill>
          <a:ln xmlns:a="http://schemas.openxmlformats.org/drawingml/2006/main" w="19050">
            <a:solidFill>
              <a:srgbClr val="7DDCE8">
                <a:alpha val="80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935FBF-4D77-4BA3-B9F4-A82FFD51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544800"/>
            <a:ext cx="361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9BB5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0E9BB5"/>
                </a:solidFill>
                <a:latin typeface="Yu Gothic"/>
                <a:ea typeface="Yu Gothic"/>
                <a:cs typeface="Yu Gothic"/>
              </a:rPr>
              <a:t>役割分担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300BE8-9555-4351-901C-4B589E5D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0020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9EF194-E73A-4965-B763-B93DBEFB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3639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俵：プログラム、Webアプリ作成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811B6B-DF08-45A1-9097-CF618D1B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3639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中嶋：海底オブジェクト、映像投影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B0B3D0-AC8A-4255-98E7-871C9D4A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22120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長谷川：装飾オブジェクト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219246-9B12-4A2E-AD1B-78B5C1A8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22120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三木：魚オブジェクト</a:t>
            </a:r>
          </a:p>
        </p:txBody>
      </p:sp>
    </p:spTree>
    <p:extLst>
      <p:ext uri="{BB962C8B-B14F-4D97-AF65-F5344CB8AC3E}">
        <p14:creationId xmlns:p14="http://schemas.microsoft.com/office/powerpoint/2010/main" val="1053685479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7A98"/>
            </a:gs>
            <a:gs pos="38000">
              <a:srgbClr val="01496B"/>
            </a:gs>
            <a:gs pos="100000">
              <a:srgbClr val="001B40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d2907436c47aa"/>
          <a:srcRect xmlns:a="http://schemas.openxmlformats.org/drawingml/2006/main" l="6294" t="0" r="62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113032" cy="895350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8d1da54d54fda"/>
          <a:srcRect xmlns:a="http://schemas.openxmlformats.org/drawingml/2006/main" l="0" t="12235" r="0" b="122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4516100"/>
            <a:ext cx="15113032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1191E-320F-47A8-8DE7-36DC92CB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113032" cy="2137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40">
              <a:alpha val="2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a4febf0914687"/>
          <a:srcRect xmlns:a="http://schemas.openxmlformats.org/drawingml/2006/main" l="424" t="0" r="4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15500" y="1143000"/>
            <a:ext cx="3714750" cy="561975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F4552-3D85-44D9-BF2D-E8ED6F19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8382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5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海の中に、</a:t>
            </a:r>
          </a:p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5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自分の魚が泳ぎ出す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408F3-7C5B-4857-BEDA-7BA33BC7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8382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DFFBFF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DFFBFF"/>
                </a:solidFill>
                <a:latin typeface="Yu Gothic"/>
                <a:ea typeface="Yu Gothic"/>
                <a:cs typeface="Yu Gothic"/>
              </a:rPr>
              <a:t>デジタル水族館は、ものづくりとプログラミングを「見て終わり」ではなく、自分の手で変化させる体験として届ける展示。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45F9F-5BC2-4BFB-A548-A740ECDC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715250"/>
            <a:ext cx="13011150" cy="5334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>
              <a:alpha val="88000"/>
            </a:srgbClr>
          </a:solidFill>
          <a:ln xmlns:a="http://schemas.openxmlformats.org/drawingml/2006/main" w="19050">
            <a:solidFill>
              <a:srgbClr val="7DDCE8">
                <a:alpha val="8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A95A4-EAE3-4B06-8D30-522A41A5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3058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9BB5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0E9BB5"/>
                </a:solidFill>
                <a:latin typeface="Yu Gothic"/>
                <a:ea typeface="Yu Gothic"/>
                <a:cs typeface="Yu Gothic"/>
              </a:rPr>
              <a:t>伝えたいこと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D349F8-B227-4654-9AA8-C20C70DE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9163050"/>
            <a:ext cx="11811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・高専で学ぶ技術は、身近な体験を自分たちでつくる力になる</a:t>
            </a:r>
          </a:p>
          <a:p xmlns:a="http://schemas.openxmlformats.org/drawingml/2006/main">
            <a:pPr algn="l">
              <a:defRPr sz="2550" b="0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・Web・データベース・3D・投影をつなげることで、教室が水族館になる</a:t>
            </a:r>
          </a:p>
          <a:p xmlns:a="http://schemas.openxmlformats.org/drawingml/2006/main">
            <a:pPr algn="l">
              <a:defRPr sz="2550" b="0">
                <a:solidFill>
                  <a:srgbClr val="043047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043047"/>
                </a:solidFill>
                <a:latin typeface="Yu Gothic"/>
                <a:ea typeface="Yu Gothic"/>
                <a:cs typeface="Yu Gothic"/>
              </a:rPr>
              <a:t>・来場者の操作がすぐ映像に反映されることで、参加する楽しさが生まれる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B1ED4-8EA8-4172-BE45-9E2FB4C6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1906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4D8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81507F-98EA-4A86-AF7F-70B10BE6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192000"/>
            <a:ext cx="17907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E9B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53B786-DCAE-4C20-BD9E-DF5ED517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2287250"/>
            <a:ext cx="1638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Webアプリ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EEF79-C0D4-4A4E-AFF4-F4A8FCBE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2192000"/>
            <a:ext cx="17907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E9B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5F54FC-D026-4662-8B4D-3B245569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2287250"/>
            <a:ext cx="1638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データ保存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C8459B-B7A8-45C0-A0ED-4525B505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192000"/>
            <a:ext cx="17907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E9B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801FC4-7486-4D7C-90BE-E4E6688E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287250"/>
            <a:ext cx="1638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3D表示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93D64D-2F4D-4BB2-AA45-4DBE6AC4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2192000"/>
            <a:ext cx="17907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E9B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08AC23-B87B-41E0-9CD3-43024E1E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2287250"/>
            <a:ext cx="1638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映像投影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9F0B80-CD94-4D5A-9776-CCD32FD5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2192000"/>
            <a:ext cx="17907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403D81-C124-44D3-BEF4-FA9A2982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2287250"/>
            <a:ext cx="1638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参加体験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C31906-2B88-435C-89A4-EC0A86E6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573250"/>
            <a:ext cx="1000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7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ご覧いただきありがとうございました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4DA2DA-E03A-43E0-9F38-35B40541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392400"/>
            <a:ext cx="571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FFBFF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DFFBFF"/>
                </a:solidFill>
                <a:latin typeface="Yu Gothic"/>
                <a:ea typeface="Yu Gothic"/>
                <a:cs typeface="Yu Gothic"/>
              </a:rPr>
              <a:t>C1 デジタル水族館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5160ea7044309"/>
          <a:stretch xmlns:a="http://schemas.openxmlformats.org/drawingml/2006/main"/>
        </p:blipFill>
        <p:spPr>
          <a:xfrm xmlns:a="http://schemas.openxmlformats.org/drawingml/2006/main">
            <a:off x="9621340" y="14573250"/>
            <a:ext cx="1959971" cy="1428750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ce29956b3a4866"/>
          <a:stretch xmlns:a="http://schemas.openxmlformats.org/drawingml/2006/main"/>
        </p:blipFill>
        <p:spPr>
          <a:xfrm xmlns:a="http://schemas.openxmlformats.org/drawingml/2006/main">
            <a:off x="11391900" y="15248469"/>
            <a:ext cx="2476500" cy="15070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4150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2026-07-04T08:23:45.7930000Z</dcterms:created>
  <dcterms:modified xsi:type="dcterms:W3CDTF">2026-07-04T08:23:45.7930000Z</dcterms:modified>
</coreProperties>
</file>