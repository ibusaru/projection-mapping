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01697b52584400" /><Relationship Type="http://schemas.openxmlformats.org/officeDocument/2006/relationships/extended-properties" Target="/docProps/app.xml" Id="R358793ea6b8a4638" /><Relationship Type="http://schemas.openxmlformats.org/officeDocument/2006/relationships/officeDocument" Target="/ppt/presentation.xml" Id="R4c6127f3dd634a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d79147546b4850"/>
  </p:sldMasterIdLst>
  <p:notesMasterIdLst>
    <p:notesMasterId xmlns:r="http://schemas.openxmlformats.org/officeDocument/2006/relationships" r:id="R1aa99ab422c44000"/>
  </p:notesMasterIdLst>
  <p:sldIdLst>
    <p:sldId xmlns:r="http://schemas.openxmlformats.org/officeDocument/2006/relationships" id="256" r:id="R14b13ee172634582"/>
  </p:sldIdLst>
  <p:sldSz cx="10287000" cy="146304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cdb67801c34677" /><Relationship Type="http://schemas.openxmlformats.org/officeDocument/2006/relationships/slideMaster" Target="/ppt/slideMasters/slideMaster1.xml" Id="R6fd79147546b4850" /><Relationship Type="http://schemas.openxmlformats.org/officeDocument/2006/relationships/notesMaster" Target="/ppt/notesMasters/notesMaster1.xml" Id="R1aa99ab422c44000" /><Relationship Type="http://schemas.openxmlformats.org/officeDocument/2006/relationships/presProps" Target="/ppt/presProps.xml" Id="R9b9f47c06501485d" /><Relationship Type="http://schemas.openxmlformats.org/officeDocument/2006/relationships/tableStyles" Target="/ppt/tableStyles.xml" Id="R3455251df9244555" /><Relationship Type="http://schemas.openxmlformats.org/officeDocument/2006/relationships/slide" Target="/ppt/slides/slide1.xml" Id="R14b13ee1726345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626d5bdeb04f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15aaf66b464b37" /><Relationship Type="http://schemas.openxmlformats.org/officeDocument/2006/relationships/notesMaster" Target="/ppt/notesMasters/notesMaster1.xml" Id="R3b0c8ca925354f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f3360ef7cc45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9ba1c4224142c0" /><Relationship Type="http://schemas.openxmlformats.org/officeDocument/2006/relationships/slideLayout" Target="/ppt/slideLayouts/slideLayout1.xml" Id="Rea102b1afeeb42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102b1afeeb42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b0a7227364021" /><Relationship Type="http://schemas.openxmlformats.org/officeDocument/2006/relationships/image" Target="/ppt/media/image.png" Id="R9c82ad8014214e52" /><Relationship Type="http://schemas.openxmlformats.org/officeDocument/2006/relationships/notesSlide" Target="/ppt/notesSlides/notesSlide1.xml" Id="R3978518fcfb641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2ad8014214e52"/>
          <a:srcRect xmlns:a="http://schemas.openxmlformats.org/drawingml/2006/main" l="234" t="0" r="2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4630400"/>
          </a:xfrm>
          <a:prstGeom xmlns:a="http://schemas.openxmlformats.org/drawingml/2006/main" prst="rect">
            <a:avLst/>
          </a:prstGeom>
        </p:spPr>
      </p:pic>
      <p:sp>
        <p:nvSpPr>
          <p:cNvPr id="2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17B6953D-4B50-41DD-A41A-3BF56286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868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63348"/>
                </a:solidFill>
              </a:defRPr>
            </a:pPr>
            <a:r>
              <a:rPr sz="4350" b="1">
                <a:solidFill>
                  <a:srgbClr val="063348"/>
                </a:solidFill>
              </a:rPr>
              <a:t>海洋環境の観察テーマ</a:t>
            </a:r>
          </a:p>
        </p:txBody>
      </p:sp>
      <p:sp>
        <p:nvSpPr>
          <p:cNvPr id="3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60D933E6-E788-41DE-999E-F1C5EBB3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314450"/>
            <a:ext cx="674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B6475"/>
                </a:solidFill>
              </a:defRPr>
            </a:pPr>
            <a:r>
              <a:rPr sz="1800" b="0">
                <a:solidFill>
                  <a:srgbClr val="2B6475"/>
                </a:solidFill>
              </a:rPr>
              <a:t>研究タイトル・発表者名をここに入力</a:t>
            </a:r>
          </a:p>
        </p:txBody>
      </p:sp>
      <p:sp>
        <p:nvSpPr>
          <p:cNvPr id="4" name="sea-label">
            <a:extLst xmlns:a="http://schemas.openxmlformats.org/drawingml/2006/main">
              <a:ext uri="{FF2B5EF4-FFF2-40B4-BE49-F238E27FC236}">
                <a16:creationId xmlns:a16="http://schemas.microsoft.com/office/drawing/2014/main" id="{F52849B7-5DA2-48FD-AB76-12F30D26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64861"/>
                </a:solidFill>
              </a:defRPr>
            </a:pPr>
            <a:r>
              <a:rPr sz="3150" b="1">
                <a:solidFill>
                  <a:srgbClr val="064861"/>
                </a:solidFill>
              </a:rPr>
              <a:t>海</a:t>
            </a:r>
          </a:p>
        </p:txBody>
      </p:sp>
      <p:sp>
        <p:nvSpPr>
          <p:cNvPr id="5" name="bubble-label">
            <a:extLst xmlns:a="http://schemas.openxmlformats.org/drawingml/2006/main">
              <a:ext uri="{FF2B5EF4-FFF2-40B4-BE49-F238E27FC236}">
                <a16:creationId xmlns:a16="http://schemas.microsoft.com/office/drawing/2014/main" id="{A7FA6AC1-B942-4187-AEC5-F2A063FD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100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A6A7A"/>
                </a:solidFill>
              </a:defRPr>
            </a:pPr>
            <a:r>
              <a:rPr sz="2100" b="1">
                <a:solidFill>
                  <a:srgbClr val="2A6A7A"/>
                </a:solidFill>
              </a:rPr>
              <a:t>気泡</a:t>
            </a:r>
          </a:p>
        </p:txBody>
      </p:sp>
      <p:sp>
        <p:nvSpPr>
          <p:cNvPr id="6" name="background-box">
            <a:extLst xmlns:a="http://schemas.openxmlformats.org/drawingml/2006/main">
              <a:ext uri="{FF2B5EF4-FFF2-40B4-BE49-F238E27FC236}">
                <a16:creationId xmlns:a16="http://schemas.microsoft.com/office/drawing/2014/main" id="{1D97E53A-F4CE-4174-9867-522E8205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24003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>
              <a:alpha val="62000"/>
            </a:srgbClr>
          </a:solidFill>
          <a:ln xmlns:a="http://schemas.openxmlformats.org/drawingml/2006/main" w="9525">
            <a:solidFill>
              <a:srgbClr val="C7E4EA">
                <a:alpha val="70000"/>
              </a:srgbClr>
            </a:solidFill>
            <a:prstDash val="solid"/>
          </a:ln>
        </p:spPr>
      </p:sp>
      <p:sp>
        <p:nvSpPr>
          <p:cNvPr id="7" name="background-heading">
            <a:extLst xmlns:a="http://schemas.openxmlformats.org/drawingml/2006/main">
              <a:ext uri="{FF2B5EF4-FFF2-40B4-BE49-F238E27FC236}">
                <a16:creationId xmlns:a16="http://schemas.microsoft.com/office/drawing/2014/main" id="{CA476314-E047-4673-AB07-D055A14E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435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63348"/>
                </a:solidFill>
              </a:defRPr>
            </a:pPr>
            <a:r>
              <a:rPr sz="2175" b="1">
                <a:solidFill>
                  <a:srgbClr val="063348"/>
                </a:solidFill>
              </a:rPr>
              <a:t>背景</a:t>
            </a:r>
          </a:p>
        </p:txBody>
      </p:sp>
      <p:sp>
        <p:nvSpPr>
          <p:cNvPr id="8" name="background-body">
            <a:extLst xmlns:a="http://schemas.openxmlformats.org/drawingml/2006/main">
              <a:ext uri="{FF2B5EF4-FFF2-40B4-BE49-F238E27FC236}">
                <a16:creationId xmlns:a16="http://schemas.microsoft.com/office/drawing/2014/main" id="{EB862A2C-1017-4738-AAF2-A4CDD9BD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000750"/>
            <a:ext cx="1943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5666"/>
                </a:solidFill>
              </a:defRPr>
            </a:pPr>
            <a:r>
              <a:rPr sz="1425" b="0">
                <a:solidFill>
                  <a:srgbClr val="285666"/>
                </a:solidFill>
              </a:rPr>
              <a:t>この研究で注目する海の現象や課題を短く整理します。</a:t>
            </a:r>
          </a:p>
        </p:txBody>
      </p:sp>
      <p:sp>
        <p:nvSpPr>
          <p:cNvPr id="9" name="purpose-box">
            <a:extLst xmlns:a="http://schemas.openxmlformats.org/drawingml/2006/main">
              <a:ext uri="{FF2B5EF4-FFF2-40B4-BE49-F238E27FC236}">
                <a16:creationId xmlns:a16="http://schemas.microsoft.com/office/drawing/2014/main" id="{6E993372-D430-4AE8-BB90-8B367D70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34000"/>
            <a:ext cx="24003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>
              <a:alpha val="62000"/>
            </a:srgbClr>
          </a:solidFill>
          <a:ln xmlns:a="http://schemas.openxmlformats.org/drawingml/2006/main" w="9525">
            <a:solidFill>
              <a:srgbClr val="C7E4EA">
                <a:alpha val="70000"/>
              </a:srgbClr>
            </a:solidFill>
            <a:prstDash val="solid"/>
          </a:ln>
        </p:spPr>
      </p:sp>
      <p:sp>
        <p:nvSpPr>
          <p:cNvPr id="10" name="purpose-heading">
            <a:extLst xmlns:a="http://schemas.openxmlformats.org/drawingml/2006/main">
              <a:ext uri="{FF2B5EF4-FFF2-40B4-BE49-F238E27FC236}">
                <a16:creationId xmlns:a16="http://schemas.microsoft.com/office/drawing/2014/main" id="{67582551-C34D-4DF2-AF71-ED744ED9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5435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63348"/>
                </a:solidFill>
              </a:defRPr>
            </a:pPr>
            <a:r>
              <a:rPr sz="2175" b="1">
                <a:solidFill>
                  <a:srgbClr val="063348"/>
                </a:solidFill>
              </a:rPr>
              <a:t>目的</a:t>
            </a:r>
          </a:p>
        </p:txBody>
      </p:sp>
      <p:sp>
        <p:nvSpPr>
          <p:cNvPr id="11" name="purpose-body">
            <a:extLst xmlns:a="http://schemas.openxmlformats.org/drawingml/2006/main">
              <a:ext uri="{FF2B5EF4-FFF2-40B4-BE49-F238E27FC236}">
                <a16:creationId xmlns:a16="http://schemas.microsoft.com/office/drawing/2014/main" id="{CB001F94-3403-4C43-910F-ED96B7D1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000750"/>
            <a:ext cx="1943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5666"/>
                </a:solidFill>
              </a:defRPr>
            </a:pPr>
            <a:r>
              <a:rPr sz="1425" b="0">
                <a:solidFill>
                  <a:srgbClr val="285666"/>
                </a:solidFill>
              </a:rPr>
              <a:t>観察・比較・評価したい問いを1文で示します。</a:t>
            </a:r>
          </a:p>
        </p:txBody>
      </p:sp>
      <p:sp>
        <p:nvSpPr>
          <p:cNvPr id="12" name="method-box">
            <a:extLst xmlns:a="http://schemas.openxmlformats.org/drawingml/2006/main">
              <a:ext uri="{FF2B5EF4-FFF2-40B4-BE49-F238E27FC236}">
                <a16:creationId xmlns:a16="http://schemas.microsoft.com/office/drawing/2014/main" id="{A44CAC1C-636C-46D6-A239-F2339840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334000"/>
            <a:ext cx="24003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>
              <a:alpha val="62000"/>
            </a:srgbClr>
          </a:solidFill>
          <a:ln xmlns:a="http://schemas.openxmlformats.org/drawingml/2006/main" w="9525">
            <a:solidFill>
              <a:srgbClr val="C7E4EA">
                <a:alpha val="70000"/>
              </a:srgbClr>
            </a:solidFill>
            <a:prstDash val="solid"/>
          </a:ln>
        </p:spPr>
      </p:sp>
      <p:sp>
        <p:nvSpPr>
          <p:cNvPr id="13" name="method-heading">
            <a:extLst xmlns:a="http://schemas.openxmlformats.org/drawingml/2006/main">
              <a:ext uri="{FF2B5EF4-FFF2-40B4-BE49-F238E27FC236}">
                <a16:creationId xmlns:a16="http://schemas.microsoft.com/office/drawing/2014/main" id="{552A2A54-6430-4001-8641-363179E8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435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63348"/>
                </a:solidFill>
              </a:defRPr>
            </a:pPr>
            <a:r>
              <a:rPr sz="2175" b="1">
                <a:solidFill>
                  <a:srgbClr val="063348"/>
                </a:solidFill>
              </a:rPr>
              <a:t>方法</a:t>
            </a:r>
          </a:p>
        </p:txBody>
      </p:sp>
      <p:sp>
        <p:nvSpPr>
          <p:cNvPr id="14" name="method-body">
            <a:extLst xmlns:a="http://schemas.openxmlformats.org/drawingml/2006/main">
              <a:ext uri="{FF2B5EF4-FFF2-40B4-BE49-F238E27FC236}">
                <a16:creationId xmlns:a16="http://schemas.microsoft.com/office/drawing/2014/main" id="{9C3C9B29-100D-449B-AF45-654C92F5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000750"/>
            <a:ext cx="1943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5666"/>
                </a:solidFill>
              </a:defRPr>
            </a:pPr>
            <a:r>
              <a:rPr sz="1425" b="0">
                <a:solidFill>
                  <a:srgbClr val="285666"/>
                </a:solidFill>
              </a:rPr>
              <a:t>調査場所、測定方法、記録する項目を入れます。</a:t>
            </a:r>
          </a:p>
        </p:txBody>
      </p:sp>
      <p:sp>
        <p:nvSpPr>
          <p:cNvPr id="15" name="result-box">
            <a:extLst xmlns:a="http://schemas.openxmlformats.org/drawingml/2006/main">
              <a:ext uri="{FF2B5EF4-FFF2-40B4-BE49-F238E27FC236}">
                <a16:creationId xmlns:a16="http://schemas.microsoft.com/office/drawing/2014/main" id="{5F5FC9C9-A640-47A0-A365-C26190AE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905750"/>
            <a:ext cx="3429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>
              <a:alpha val="62000"/>
            </a:srgbClr>
          </a:solidFill>
          <a:ln xmlns:a="http://schemas.openxmlformats.org/drawingml/2006/main" w="9525">
            <a:solidFill>
              <a:srgbClr val="C7E4EA">
                <a:alpha val="70000"/>
              </a:srgbClr>
            </a:solidFill>
            <a:prstDash val="solid"/>
          </a:ln>
        </p:spPr>
      </p:sp>
      <p:sp>
        <p:nvSpPr>
          <p:cNvPr id="16" name="result-heading">
            <a:extLst xmlns:a="http://schemas.openxmlformats.org/drawingml/2006/main">
              <a:ext uri="{FF2B5EF4-FFF2-40B4-BE49-F238E27FC236}">
                <a16:creationId xmlns:a16="http://schemas.microsoft.com/office/drawing/2014/main" id="{47A40122-337B-45C2-8A7E-35DB1EDD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81153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63348"/>
                </a:solidFill>
              </a:defRPr>
            </a:pPr>
            <a:r>
              <a:rPr sz="2175" b="1">
                <a:solidFill>
                  <a:srgbClr val="063348"/>
                </a:solidFill>
              </a:rPr>
              <a:t>結果</a:t>
            </a:r>
          </a:p>
        </p:txBody>
      </p:sp>
      <p:sp>
        <p:nvSpPr>
          <p:cNvPr id="17" name="result-body">
            <a:extLst xmlns:a="http://schemas.openxmlformats.org/drawingml/2006/main">
              <a:ext uri="{FF2B5EF4-FFF2-40B4-BE49-F238E27FC236}">
                <a16:creationId xmlns:a16="http://schemas.microsoft.com/office/drawing/2014/main" id="{BA3EE987-16B1-44AC-8991-0B9D29F6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8572500"/>
            <a:ext cx="2971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5666"/>
                </a:solidFill>
              </a:defRPr>
            </a:pPr>
            <a:r>
              <a:rPr sz="1425" b="0">
                <a:solidFill>
                  <a:srgbClr val="285666"/>
                </a:solidFill>
              </a:rPr>
              <a:t>図表や写真を中央に置き、重要な発見を大きく示します。</a:t>
            </a:r>
          </a:p>
        </p:txBody>
      </p:sp>
      <p:sp>
        <p:nvSpPr>
          <p:cNvPr id="18" name="discussion-box">
            <a:extLst xmlns:a="http://schemas.openxmlformats.org/drawingml/2006/main">
              <a:ext uri="{FF2B5EF4-FFF2-40B4-BE49-F238E27FC236}">
                <a16:creationId xmlns:a16="http://schemas.microsoft.com/office/drawing/2014/main" id="{7CD06EC7-B900-4B57-92C4-BF4C6A2E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905750"/>
            <a:ext cx="3429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>
              <a:alpha val="62000"/>
            </a:srgbClr>
          </a:solidFill>
          <a:ln xmlns:a="http://schemas.openxmlformats.org/drawingml/2006/main" w="9525">
            <a:solidFill>
              <a:srgbClr val="C7E4EA">
                <a:alpha val="70000"/>
              </a:srgbClr>
            </a:solidFill>
            <a:prstDash val="solid"/>
          </a:ln>
        </p:spPr>
      </p:sp>
      <p:sp>
        <p:nvSpPr>
          <p:cNvPr id="19" name="discussion-heading">
            <a:extLst xmlns:a="http://schemas.openxmlformats.org/drawingml/2006/main">
              <a:ext uri="{FF2B5EF4-FFF2-40B4-BE49-F238E27FC236}">
                <a16:creationId xmlns:a16="http://schemas.microsoft.com/office/drawing/2014/main" id="{5EAE5C56-7490-4F67-94C0-A6D5FB86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81153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63348"/>
                </a:solidFill>
              </a:defRPr>
            </a:pPr>
            <a:r>
              <a:rPr sz="2175" b="1">
                <a:solidFill>
                  <a:srgbClr val="063348"/>
                </a:solidFill>
              </a:rPr>
              <a:t>考察</a:t>
            </a:r>
          </a:p>
        </p:txBody>
      </p:sp>
      <p:sp>
        <p:nvSpPr>
          <p:cNvPr id="20" name="discussion-body">
            <a:extLst xmlns:a="http://schemas.openxmlformats.org/drawingml/2006/main">
              <a:ext uri="{FF2B5EF4-FFF2-40B4-BE49-F238E27FC236}">
                <a16:creationId xmlns:a16="http://schemas.microsoft.com/office/drawing/2014/main" id="{996EE69A-5C92-47B1-8781-7266EAFC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8572500"/>
            <a:ext cx="2971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5666"/>
                </a:solidFill>
              </a:defRPr>
            </a:pPr>
            <a:r>
              <a:rPr sz="1425" b="0">
                <a:solidFill>
                  <a:srgbClr val="285666"/>
                </a:solidFill>
              </a:rPr>
              <a:t>海面・海中・海底の関係から、結果の意味を説明します。</a:t>
            </a:r>
          </a:p>
        </p:txBody>
      </p:sp>
      <p:sp>
        <p:nvSpPr>
          <p:cNvPr id="21" name="seabed-label">
            <a:extLst xmlns:a="http://schemas.openxmlformats.org/drawingml/2006/main">
              <a:ext uri="{FF2B5EF4-FFF2-40B4-BE49-F238E27FC236}">
                <a16:creationId xmlns:a16="http://schemas.microsoft.com/office/drawing/2014/main" id="{C2922416-77D2-423B-A8F5-952E4422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64920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8000"/>
            </a:srgbClr>
          </a:solidFill>
          <a:ln xmlns:a="http://schemas.openxmlformats.org/drawingml/2006/main" w="9525">
            <a:solidFill>
              <a:srgbClr val="D3BFAE">
                <a:alpha val="7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3443A"/>
                </a:solidFill>
              </a:defRPr>
            </a:pPr>
            <a:r>
              <a:rPr sz="2400" b="1">
                <a:solidFill>
                  <a:srgbClr val="53443A"/>
                </a:solidFill>
              </a:rPr>
              <a:t>海底（サンゴ礁・砂・岩）</a:t>
            </a:r>
          </a:p>
        </p:txBody>
      </p:sp>
      <p:sp>
        <p:nvSpPr>
          <p:cNvPr id="22" name="small-note">
            <a:extLst xmlns:a="http://schemas.openxmlformats.org/drawingml/2006/main">
              <a:ext uri="{FF2B5EF4-FFF2-40B4-BE49-F238E27FC236}">
                <a16:creationId xmlns:a16="http://schemas.microsoft.com/office/drawing/2014/main" id="{678591B4-908F-4886-A367-98A894A1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0096500"/>
            <a:ext cx="581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4000"/>
            </a:srgbClr>
          </a:solidFill>
          <a:ln xmlns:a="http://schemas.openxmlformats.org/drawingml/2006/main" w="9525">
            <a:solidFill>
              <a:srgbClr val="CAEEF2">
                <a:alpha val="6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6878"/>
                </a:solidFill>
              </a:defRPr>
            </a:pPr>
            <a:r>
              <a:rPr sz="1650" b="0">
                <a:solidFill>
                  <a:srgbClr val="1F6878"/>
                </a:solidFill>
              </a:rPr>
              <a:t>写真・グラフ・調査地点図を中央の余白に追加できます</a:t>
            </a:r>
          </a:p>
        </p:txBody>
      </p:sp>
    </p:spTree>
    <p:extLst>
      <p:ext uri="{BB962C8B-B14F-4D97-AF65-F5344CB8AC3E}">
        <p14:creationId xmlns:p14="http://schemas.microsoft.com/office/powerpoint/2010/main" val="5315713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2026-07-02T08:51:19.1860000Z</dcterms:created>
  <dcterms:modified xsi:type="dcterms:W3CDTF">2026-07-02T08:51:19.1860000Z</dcterms:modified>
</coreProperties>
</file>